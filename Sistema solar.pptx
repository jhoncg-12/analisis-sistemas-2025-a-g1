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59" r:id="rId3"/>
    <p:sldId id="257" r:id="rId4"/>
    <p:sldId id="261" r:id="rId5"/>
    <p:sldId id="269" r:id="rId6"/>
    <p:sldId id="263" r:id="rId7"/>
    <p:sldId id="265" r:id="rId8"/>
    <p:sldId id="264" r:id="rId9"/>
    <p:sldId id="262" r:id="rId10"/>
    <p:sldId id="270" r:id="rId11"/>
    <p:sldId id="271" r:id="rId12"/>
    <p:sldId id="272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794200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833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1220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37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469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33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237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83228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446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47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014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345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ssive planets orbiting a bright space">
            <a:extLst>
              <a:ext uri="{FF2B5EF4-FFF2-40B4-BE49-F238E27FC236}">
                <a16:creationId xmlns:a16="http://schemas.microsoft.com/office/drawing/2014/main" id="{8CB8D260-DC3C-E90D-6FEB-08CF1D788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4885A28-03D4-D460-3A68-50863D87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es-MX" sz="4800" dirty="0"/>
              <a:t>Sistema solar 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6AD794-DCA9-B6D6-6717-3FD7AEA29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s-MX" dirty="0"/>
              <a:t>De: Jhon Sebastian Caviedes Guevara</a:t>
            </a:r>
          </a:p>
          <a:p>
            <a:pPr algn="r">
              <a:lnSpc>
                <a:spcPct val="100000"/>
              </a:lnSpc>
            </a:pPr>
            <a:r>
              <a:rPr lang="es-MX" dirty="0"/>
              <a:t>Para: </a:t>
            </a:r>
            <a:r>
              <a:rPr lang="es-MX" dirty="0" err="1"/>
              <a:t>Jesus</a:t>
            </a:r>
            <a:r>
              <a:rPr lang="es-MX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132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D72A-0D1A-2DBC-43FD-C1E12FDF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7">
            <a:extLst>
              <a:ext uri="{FF2B5EF4-FFF2-40B4-BE49-F238E27FC236}">
                <a16:creationId xmlns:a16="http://schemas.microsoft.com/office/drawing/2014/main" id="{CA719DDC-C754-96EE-0FC6-6537D1866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942" y="523000"/>
            <a:ext cx="6991776" cy="666307"/>
          </a:xfrm>
        </p:spPr>
        <p:txBody>
          <a:bodyPr>
            <a:normAutofit fontScale="77500" lnSpcReduction="20000"/>
          </a:bodyPr>
          <a:lstStyle/>
          <a:p>
            <a:r>
              <a:rPr lang="es-MX" sz="4000" dirty="0"/>
              <a:t>PROBLEMA IDENTIFICADO </a:t>
            </a:r>
            <a:endParaRPr lang="es-CO" sz="4000" dirty="0"/>
          </a:p>
        </p:txBody>
      </p:sp>
      <p:sp>
        <p:nvSpPr>
          <p:cNvPr id="10" name="Subtítulo 7">
            <a:extLst>
              <a:ext uri="{FF2B5EF4-FFF2-40B4-BE49-F238E27FC236}">
                <a16:creationId xmlns:a16="http://schemas.microsoft.com/office/drawing/2014/main" id="{68636A9D-EB38-ADB7-41B6-C4B03A10B46D}"/>
              </a:ext>
            </a:extLst>
          </p:cNvPr>
          <p:cNvSpPr txBox="1">
            <a:spLocks/>
          </p:cNvSpPr>
          <p:nvPr/>
        </p:nvSpPr>
        <p:spPr>
          <a:xfrm>
            <a:off x="698003" y="2210034"/>
            <a:ext cx="9035336" cy="4086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dirty="0"/>
              <a:t>Actualmente, no existe una plataforma accesible, educativa y colaborativa que permita a personas interesadas en la astronomía registrar, consultar y administrar información sobre los planetas rocosos y gaseosos de la Vía Láctea. Los datos disponibles suelen estar dispersos, limitados a investigaciones académicas o sitios técnicos, lo cual dificulta su comprensión y acceso para el público general.</a:t>
            </a:r>
          </a:p>
          <a:p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69131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9BB7F-D099-53D7-E02D-B119F6DD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D84239F-93EA-92C3-EFBB-DAE664BB2B3D}"/>
              </a:ext>
            </a:extLst>
          </p:cNvPr>
          <p:cNvSpPr txBox="1"/>
          <p:nvPr/>
        </p:nvSpPr>
        <p:spPr>
          <a:xfrm>
            <a:off x="856932" y="2331220"/>
            <a:ext cx="83279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/>
              <a:t>Desarrollar una plataforma digital interactiva que permita:</a:t>
            </a:r>
          </a:p>
          <a:p>
            <a:pPr>
              <a:buNone/>
            </a:pP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Registrar nuevos planetas rocosos o gaseosos con sus características principales.</a:t>
            </a:r>
          </a:p>
          <a:p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Consultar información ordenada y clasificada sobre los planetas existentes.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datos de planetas con un sistema de permisos.</a:t>
            </a:r>
          </a:p>
          <a:p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Ofrecer una interfaz intuitiva, educativa y abierta para todo tipo de usuarios.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Esta solución busca democratizar el conocimiento astronómico, fomentar la curiosidad científica y facilitar el acceso a datos del universo de manera práctica y atractiva.</a:t>
            </a:r>
          </a:p>
        </p:txBody>
      </p:sp>
      <p:sp>
        <p:nvSpPr>
          <p:cNvPr id="15" name="Subtítulo 7">
            <a:extLst>
              <a:ext uri="{FF2B5EF4-FFF2-40B4-BE49-F238E27FC236}">
                <a16:creationId xmlns:a16="http://schemas.microsoft.com/office/drawing/2014/main" id="{A33915EC-3231-5AC5-8048-B3770B269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191" y="1098095"/>
            <a:ext cx="6991776" cy="666307"/>
          </a:xfrm>
        </p:spPr>
        <p:txBody>
          <a:bodyPr>
            <a:normAutofit fontScale="92500"/>
          </a:bodyPr>
          <a:lstStyle/>
          <a:p>
            <a:r>
              <a:rPr lang="es-MX" sz="4000" dirty="0"/>
              <a:t>SOLUCION PROPUESTA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77547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8BBA-DFD1-D7A3-6E19-4926D053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ítulo 7">
            <a:extLst>
              <a:ext uri="{FF2B5EF4-FFF2-40B4-BE49-F238E27FC236}">
                <a16:creationId xmlns:a16="http://schemas.microsoft.com/office/drawing/2014/main" id="{070A3FFD-709A-C179-4559-EBDF57892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842" y="724619"/>
            <a:ext cx="6991776" cy="666307"/>
          </a:xfrm>
        </p:spPr>
        <p:txBody>
          <a:bodyPr>
            <a:normAutofit fontScale="77500" lnSpcReduction="20000"/>
          </a:bodyPr>
          <a:lstStyle/>
          <a:p>
            <a:r>
              <a:rPr lang="es-MX" sz="4000" dirty="0"/>
              <a:t>METODOLOGÍA UTILIZADA </a:t>
            </a:r>
            <a:endParaRPr lang="es-CO" sz="40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19DFE9-A1AD-5F08-3636-E6E234EFAFD9}"/>
              </a:ext>
            </a:extLst>
          </p:cNvPr>
          <p:cNvSpPr txBox="1"/>
          <p:nvPr/>
        </p:nvSpPr>
        <p:spPr>
          <a:xfrm>
            <a:off x="2446817" y="2459504"/>
            <a:ext cx="72983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/>
              <a:t>En este proyecto, que consiste en desarrollar una plataforma para registrar y administrar información sobre planetas rocosos y gaseosos de la Vía Láctea, se ha decidido aplicar la metodología Scrum adaptada a un contexto de trabajo individual.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259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0E3A6-DCA1-602F-5125-DC87BF2A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630019-88C4-6CBC-3C24-F064F704362B}"/>
              </a:ext>
            </a:extLst>
          </p:cNvPr>
          <p:cNvSpPr txBox="1"/>
          <p:nvPr/>
        </p:nvSpPr>
        <p:spPr>
          <a:xfrm>
            <a:off x="752254" y="2090172"/>
            <a:ext cx="87000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Roles unificados</a:t>
            </a:r>
            <a:br>
              <a:rPr lang="es-MX" sz="2400" dirty="0"/>
            </a:br>
            <a:r>
              <a:rPr lang="es-MX" sz="2400" dirty="0"/>
              <a:t>Al ser un proyecto desarrollado por una sola persona, los roles tradicionales de Scrum se combinan en una única figura. Yo desempeño las funciones de </a:t>
            </a:r>
            <a:r>
              <a:rPr lang="es-MX" sz="2400" dirty="0" err="1"/>
              <a:t>Product</a:t>
            </a:r>
            <a:r>
              <a:rPr lang="es-MX" sz="2400" dirty="0"/>
              <a:t> </a:t>
            </a:r>
            <a:r>
              <a:rPr lang="es-MX" sz="2400" dirty="0" err="1"/>
              <a:t>Owner</a:t>
            </a:r>
            <a:r>
              <a:rPr lang="es-MX" sz="2400" dirty="0"/>
              <a:t>, Scrum Master y Equipo de Desarrollo. Esto significa que, además de definir y priorizar las funcionalidades, también planifico, ejecuto y superviso todo el desarrollo del proyecto.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07962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4AA48-DB94-99D8-4D0E-F4D548A0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76143EB-93E0-E7DB-9F99-7747D942A45C}"/>
              </a:ext>
            </a:extLst>
          </p:cNvPr>
          <p:cNvSpPr txBox="1"/>
          <p:nvPr/>
        </p:nvSpPr>
        <p:spPr>
          <a:xfrm>
            <a:off x="624663" y="2090172"/>
            <a:ext cx="82641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Artefactos simplificados</a:t>
            </a:r>
            <a:br>
              <a:rPr lang="es-MX" sz="2400" dirty="0"/>
            </a:br>
            <a:r>
              <a:rPr lang="es-MX" sz="2400" dirty="0"/>
              <a:t>Se mantiene un </a:t>
            </a:r>
            <a:r>
              <a:rPr lang="es-MX" sz="2400" dirty="0" err="1"/>
              <a:t>Product</a:t>
            </a:r>
            <a:r>
              <a:rPr lang="es-MX" sz="2400" dirty="0"/>
              <a:t> Backlog con todas las tareas y funcionalidades organizadas por prioridad. Para cada ciclo de trabajo o sprint, selecciono un conjunto específico de tareas —el Sprint Backlog— que me comprometo a completar. Al finalizar cada sprint, entrego una versión funcional del producto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19450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A8F6-E432-AFD7-A9C3-BBB32579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3CF31D-CAC7-C45E-C374-31D12A793995}"/>
              </a:ext>
            </a:extLst>
          </p:cNvPr>
          <p:cNvSpPr txBox="1"/>
          <p:nvPr/>
        </p:nvSpPr>
        <p:spPr>
          <a:xfrm>
            <a:off x="624661" y="1166842"/>
            <a:ext cx="88276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/>
              <a:t>Eventos adaptados</a:t>
            </a:r>
            <a:br>
              <a:rPr lang="es-MX" sz="2400" dirty="0"/>
            </a:br>
            <a:r>
              <a:rPr lang="es-MX" sz="2400" dirty="0"/>
              <a:t>Planifico cada sprint estableciendo metas claras y alcanzables. De manera diaria, realizo una autoevaluación rápida para monitorear mi progreso, identificar obstáculos y ajustar el trabajo. Al final de cada sprint, reviso los resultados obtenidos y reflexiono sobre posibles mejoras en el proceso para optimizar la productividad en los siguientes ciclos.</a:t>
            </a:r>
          </a:p>
          <a:p>
            <a:pPr>
              <a:buNone/>
            </a:pPr>
            <a:endParaRPr lang="es-MX" sz="2400" dirty="0"/>
          </a:p>
          <a:p>
            <a:r>
              <a:rPr lang="es-MX" sz="2400" dirty="0"/>
              <a:t>Esta adaptación de Scrum permite mantener una organización clara, mejorar el enfoque y garantizar avances constantes en el desarrollo de la plataforma, facilitando la gestión del proyecto a pesar de ser un trabajo individual.</a:t>
            </a:r>
          </a:p>
        </p:txBody>
      </p:sp>
    </p:spTree>
    <p:extLst>
      <p:ext uri="{BB962C8B-B14F-4D97-AF65-F5344CB8AC3E}">
        <p14:creationId xmlns:p14="http://schemas.microsoft.com/office/powerpoint/2010/main" val="240367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C8B5-89ED-06F0-24B4-D22C78CB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22D7F7B-B054-3CEC-035C-0CA0CE90B876}"/>
              </a:ext>
            </a:extLst>
          </p:cNvPr>
          <p:cNvSpPr txBox="1"/>
          <p:nvPr/>
        </p:nvSpPr>
        <p:spPr>
          <a:xfrm>
            <a:off x="565740" y="1536174"/>
            <a:ext cx="110605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Sprint 1:</a:t>
            </a:r>
            <a:endParaRPr lang="es-MX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Definir y crear formulario para registrar planetas (HU01).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Mostrar lista básica de planetas (HU01).</a:t>
            </a:r>
          </a:p>
          <a:p>
            <a:r>
              <a:rPr lang="es-MX" sz="2400" b="1" dirty="0"/>
              <a:t>Sprint 2:</a:t>
            </a:r>
            <a:endParaRPr lang="es-MX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Implementar filtro por tipo de planeta (HU02).</a:t>
            </a:r>
          </a:p>
          <a:p>
            <a:r>
              <a:rPr lang="es-MX" sz="2400" b="1" dirty="0"/>
              <a:t>Sprint 3:</a:t>
            </a:r>
            <a:endParaRPr lang="es-MX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Funcionalidades de eliminación c (HU03 y HU04).</a:t>
            </a:r>
          </a:p>
          <a:p>
            <a:r>
              <a:rPr lang="es-MX" sz="2400" b="1" dirty="0"/>
              <a:t>Sprint 4:</a:t>
            </a:r>
            <a:endParaRPr lang="es-MX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400" dirty="0"/>
              <a:t>Mejorar interfaz con contenido educativo (HU05).</a:t>
            </a:r>
          </a:p>
        </p:txBody>
      </p:sp>
    </p:spTree>
    <p:extLst>
      <p:ext uri="{BB962C8B-B14F-4D97-AF65-F5344CB8AC3E}">
        <p14:creationId xmlns:p14="http://schemas.microsoft.com/office/powerpoint/2010/main" val="337093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9A731-C4C7-83B5-C278-589F23F8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426B547-C3FF-640B-C1FB-8971BC50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343888"/>
            <a:ext cx="6892636" cy="42582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6DA45A-2CF8-4DC2-CB39-2C6C10CA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91" y="3629891"/>
            <a:ext cx="6822145" cy="26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9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00AA-7405-8DB0-5B40-0420E613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FD9C246-F846-7319-2E17-7BA407872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8" y="153132"/>
            <a:ext cx="7523018" cy="35119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A814A7-6A29-B03E-6904-0B5DC07C0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436" y="3304828"/>
            <a:ext cx="6691746" cy="29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9A50-B93C-C0E1-636A-83049522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CCBABC-2A3C-D84B-A2AE-0D58CE6D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9" y="511322"/>
            <a:ext cx="6689374" cy="42615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2FDAAB9-16EB-2B4C-6AB9-E08E93BE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564" y="511322"/>
            <a:ext cx="4858262" cy="363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6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AF0F-7D82-F941-85DA-A5C10DA2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F9A31E-C0C2-CC52-4C12-BD0B4C27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237" y="0"/>
            <a:ext cx="4159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79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2043-347A-8A67-04F4-7F8D39C7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9452220-B7FE-22EE-8FE3-E8178B941B0D}"/>
              </a:ext>
            </a:extLst>
          </p:cNvPr>
          <p:cNvSpPr txBox="1"/>
          <p:nvPr/>
        </p:nvSpPr>
        <p:spPr>
          <a:xfrm>
            <a:off x="879401" y="920621"/>
            <a:ext cx="1043319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La implementación de esta plataforma representa un paso significativo en la divulgación astronómica y en el acceso abierto al conocimiento del universo. Al permitir que cualquier persona pueda registrar, explorar y aprender sobre los planetas de la Vía Láctea de forma sencilla, se promueve una educación inclusiva, participativa y moderna. Este proyecto demuestra cómo la tecnología puede ser una herramienta poderosa para inspirar curiosidad científica y fomentar el aprendizaje autodidacta sobre nuestro entorno galáctico.</a:t>
            </a:r>
            <a:endParaRPr lang="es-CO" sz="3200" dirty="0"/>
          </a:p>
        </p:txBody>
      </p:sp>
      <p:sp>
        <p:nvSpPr>
          <p:cNvPr id="15" name="Subtítulo 7">
            <a:extLst>
              <a:ext uri="{FF2B5EF4-FFF2-40B4-BE49-F238E27FC236}">
                <a16:creationId xmlns:a16="http://schemas.microsoft.com/office/drawing/2014/main" id="{6E4CC3BC-3088-BED0-C5E6-40C877A77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401" y="0"/>
            <a:ext cx="6991776" cy="666307"/>
          </a:xfrm>
        </p:spPr>
        <p:txBody>
          <a:bodyPr>
            <a:normAutofit lnSpcReduction="10000"/>
          </a:bodyPr>
          <a:lstStyle/>
          <a:p>
            <a:r>
              <a:rPr lang="es-MX" sz="4000" dirty="0"/>
              <a:t>CONCLUSIÓN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543873776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393</TotalTime>
  <Words>550</Words>
  <Application>Microsoft Office PowerPoint</Application>
  <PresentationFormat>Panorámica</PresentationFormat>
  <Paragraphs>35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Impact</vt:lpstr>
      <vt:lpstr>Distintivo</vt:lpstr>
      <vt:lpstr>Sistema solar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 sebastian</dc:creator>
  <cp:lastModifiedBy>jhon sebastian</cp:lastModifiedBy>
  <cp:revision>2</cp:revision>
  <dcterms:created xsi:type="dcterms:W3CDTF">2025-05-22T22:57:28Z</dcterms:created>
  <dcterms:modified xsi:type="dcterms:W3CDTF">2025-05-26T04:08:54Z</dcterms:modified>
</cp:coreProperties>
</file>